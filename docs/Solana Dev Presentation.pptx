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h6GIiVd5KoupOU8/YHZUswR2De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A70F9D-51B8-4E14-8EEE-1DBFEC5753B0}">
  <a:tblStyle styleId="{99A70F9D-51B8-4E14-8EEE-1DBFEC5753B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6" name="Google Shape;79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9945FF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14F19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48640" y="109728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Solana実務開発で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192024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ぶつかる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274320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6つの問題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3931920"/>
            <a:ext cx="2103120" cy="347472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48640" y="393192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RPC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926080" y="3931920"/>
            <a:ext cx="2103120" cy="347472"/>
          </a:xfrm>
          <a:prstGeom prst="rect">
            <a:avLst/>
          </a:prstGeom>
          <a:solidFill>
            <a:srgbClr val="1E1B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926080" y="393192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Tx失敗処理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303520" y="3931920"/>
            <a:ext cx="2103120" cy="347472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5303520" y="393192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セキュリティ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48640" y="4480560"/>
            <a:ext cx="2103120" cy="347472"/>
          </a:xfrm>
          <a:prstGeom prst="rect">
            <a:avLst/>
          </a:prstGeom>
          <a:solidFill>
            <a:srgbClr val="1E1B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48640" y="448056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 状態管理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926080" y="4480560"/>
            <a:ext cx="2103120" cy="347472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2926080" y="448056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 Compute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303520" y="4480560"/>
            <a:ext cx="2103120" cy="347472"/>
          </a:xfrm>
          <a:prstGeom prst="rect">
            <a:avLst/>
          </a:prstGeom>
          <a:solidFill>
            <a:srgbClr val="1E1B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5303520" y="448056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⑥ 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7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31520" y="1737360"/>
            <a:ext cx="1005840" cy="1005840"/>
          </a:xfrm>
          <a:prstGeom prst="ellipse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31520" y="17373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920240" y="155448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RPCとインフラ設計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920240" y="283464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Public RPCの問題・専用RPC・Fallback設計・WebSocket・Indexer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4663440"/>
            <a:ext cx="109728" cy="109728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77240" y="4663440"/>
            <a:ext cx="109728" cy="109728"/>
          </a:xfrm>
          <a:prstGeom prst="ellipse">
            <a:avLst/>
          </a:prstGeom>
          <a:solidFill>
            <a:srgbClr val="9945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1097280" y="4663440"/>
            <a:ext cx="109728" cy="109728"/>
          </a:xfrm>
          <a:prstGeom prst="ellipse">
            <a:avLst/>
          </a:prstGeom>
          <a:solidFill>
            <a:srgbClr val="9945F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417320" y="4663440"/>
            <a:ext cx="109728" cy="109728"/>
          </a:xfrm>
          <a:prstGeom prst="ellipse">
            <a:avLst/>
          </a:prstGeom>
          <a:solidFill>
            <a:srgbClr val="9945FF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737360" y="4663440"/>
            <a:ext cx="109728" cy="109728"/>
          </a:xfrm>
          <a:prstGeom prst="ellipse">
            <a:avLst/>
          </a:prstGeom>
          <a:solidFill>
            <a:srgbClr val="9945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① RPC とインフラ設計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RPCとは何か ─ アーキテクチャ概要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40080" y="1371600"/>
            <a:ext cx="2194560" cy="914400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40080" y="13716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(React / Next.js)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017520" y="1371600"/>
            <a:ext cx="274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474720" y="1371600"/>
            <a:ext cx="2194560" cy="914400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474720" y="13716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RPC Node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852160" y="1371600"/>
            <a:ext cx="274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309360" y="1371600"/>
            <a:ext cx="2194560" cy="914400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309360" y="13716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Solana Validator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27432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57200" y="2743200"/>
            <a:ext cx="256032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21792" y="286207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HTTP RPC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21792" y="3246120"/>
            <a:ext cx="223113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データ取得・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トランザクション送信に使用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291840" y="27432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291840" y="2743200"/>
            <a:ext cx="256032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456432" y="286207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WebSocket RPC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456432" y="3246120"/>
            <a:ext cx="223113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リアルタイム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イベント購読に使用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126480" y="27432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126480" y="2743200"/>
            <a:ext cx="256032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291072" y="286207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主な用途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291072" y="3246120"/>
            <a:ext cx="223113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残高取得 / Tx送信 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シミュレーション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① RPC とインフラ設計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RPCの主な役割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" y="123444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57200" y="1234440"/>
            <a:ext cx="256032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594360" y="132588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① データ取得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94360" y="1965960"/>
            <a:ext cx="2286000" cy="155448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731520" y="2057400"/>
            <a:ext cx="2011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getAccountInfo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getBalance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getTokenAccountsByOwner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291840" y="123444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3291840" y="1234440"/>
            <a:ext cx="256032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3429000" y="132588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② トランザクション送信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429000" y="1965960"/>
            <a:ext cx="2286000" cy="155448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566160" y="2057400"/>
            <a:ext cx="2011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sendTransaction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126480" y="123444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126480" y="1234440"/>
            <a:ext cx="256032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263640" y="132588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③ トランザクション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シミュレーション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263640" y="1965960"/>
            <a:ext cx="2286000" cy="155448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6400800" y="2057400"/>
            <a:ext cx="2011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simulateTransaction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① RPC とインフラ設計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Public RPCの問題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solidFill>
            <a:srgbClr val="E8E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4B4468"/>
                </a:solidFill>
                <a:latin typeface="Consolas"/>
                <a:ea typeface="Consolas"/>
                <a:cs typeface="Consolas"/>
                <a:sym typeface="Consolas"/>
              </a:rPr>
              <a:t>https://api.mainnet-beta.solana.com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57200" y="16916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開発・テスト用途には便利だが、本番環境には推奨されない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57200" y="2148840"/>
            <a:ext cx="25603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57200" y="2148840"/>
            <a:ext cx="25603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21792" y="226771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Rate Limit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21792" y="2651760"/>
            <a:ext cx="223113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429 Too Many Requests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アクセス増加で発生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291840" y="2148840"/>
            <a:ext cx="25603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3291840" y="2148840"/>
            <a:ext cx="25603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456432" y="226771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SLAがない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456432" y="2651760"/>
            <a:ext cx="223113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サービス品質の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保証がない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126480" y="2148840"/>
            <a:ext cx="25603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6126480" y="2148840"/>
            <a:ext cx="25603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291072" y="226771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パフォーマンス不安定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291072" y="2651760"/>
            <a:ext cx="223113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多くのアプリが共有するため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遅延が発生しやすい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→ 本番サービスでは専用RPCプロバイダーの使用が標準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① RPC とインフラ設計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Dedicated RPC ─ 本番環境での選択肢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57200" y="1234440"/>
            <a:ext cx="38404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57200" y="1234440"/>
            <a:ext cx="73152" cy="100584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685800" y="13716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Helius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663440" y="1234440"/>
            <a:ext cx="38404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4663440" y="1234440"/>
            <a:ext cx="73152" cy="100584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4892040" y="13716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Triton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57200" y="2423160"/>
            <a:ext cx="38404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57200" y="2423160"/>
            <a:ext cx="73152" cy="1005840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685800" y="25603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QuickNode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663440" y="2423160"/>
            <a:ext cx="38404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663440" y="2423160"/>
            <a:ext cx="73152" cy="10058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892040" y="25603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Alchemy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7200" y="3657600"/>
            <a:ext cx="19202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57200" y="3657600"/>
            <a:ext cx="192024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621792" y="3776472"/>
            <a:ext cx="1591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専用ノード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21792" y="4160520"/>
            <a:ext cx="15910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他のアプリと共有しない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高い安定性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2606040" y="3657600"/>
            <a:ext cx="19202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2606040" y="3657600"/>
            <a:ext cx="192024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2770632" y="3776472"/>
            <a:ext cx="1591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高速インフラ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2770632" y="4160520"/>
            <a:ext cx="15910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最適化されたレスポンス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低レイテンシー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754880" y="3657600"/>
            <a:ext cx="19202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754880" y="3657600"/>
            <a:ext cx="192024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919472" y="3776472"/>
            <a:ext cx="1591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Indexer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919472" y="4160520"/>
            <a:ext cx="15910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履歴検索を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高速化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903720" y="3657600"/>
            <a:ext cx="19202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6903720" y="3657600"/>
            <a:ext cx="192024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7068312" y="3776472"/>
            <a:ext cx="1591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Webhook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068312" y="4160520"/>
            <a:ext cx="15910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オンチェーンイベントを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リアルタイム通知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① RPC とインフラ設計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RPC Fallback・Retry・Load Balancing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914400" y="1371600"/>
            <a:ext cx="2011680" cy="822960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914400" y="137160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RPC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914400" y="21945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914400" y="2606040"/>
            <a:ext cx="2011680" cy="822960"/>
          </a:xfrm>
          <a:prstGeom prst="rect">
            <a:avLst/>
          </a:prstGeom>
          <a:solidFill>
            <a:srgbClr val="FF6B6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914400" y="260604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(429 / timeout)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914400" y="342900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914400" y="3840480"/>
            <a:ext cx="2011680" cy="822960"/>
          </a:xfrm>
          <a:prstGeom prst="rect">
            <a:avLst/>
          </a:prstGeom>
          <a:solidFill>
            <a:srgbClr val="14F19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914400" y="384048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Backup RPC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31520" y="4389120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初心者 → 実務レベルになる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最重要パターン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114800" y="1371600"/>
            <a:ext cx="150876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114800" y="1371600"/>
            <a:ext cx="150876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279392" y="1490472"/>
            <a:ext cx="11795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RPC Fallback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279392" y="1874520"/>
            <a:ext cx="1179576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Primary失敗時に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Backup RPCへ自動切替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760720" y="1371600"/>
            <a:ext cx="150876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760720" y="1371600"/>
            <a:ext cx="150876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5925312" y="1490472"/>
            <a:ext cx="11795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Retry Logic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925312" y="1874520"/>
            <a:ext cx="1179576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一時的エラーに対して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指数バックオフで再送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7406640" y="1371600"/>
            <a:ext cx="150876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7406640" y="1371600"/>
            <a:ext cx="150876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7571232" y="1490472"/>
            <a:ext cx="11795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Load Balancing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7571232" y="1874520"/>
            <a:ext cx="1179576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複数RPCに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リクエストを分散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① RPC とインフラ設計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Commitment Level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Commitment Level = トランザクション確定の度合い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57200" y="173736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57200" y="1737360"/>
            <a:ext cx="256032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1417320" y="1920240"/>
            <a:ext cx="640080" cy="640080"/>
          </a:xfrm>
          <a:prstGeom prst="ellipse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1417320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94360" y="2651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processed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94360" y="30632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ノードで処理された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594360" y="3520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E1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3E1FF"/>
                </a:solidFill>
                <a:latin typeface="Calibri"/>
                <a:ea typeface="Calibri"/>
                <a:cs typeface="Calibri"/>
                <a:sym typeface="Calibri"/>
              </a:rPr>
              <a:t>用途: デバッグ用途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291840" y="173736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3291840" y="1737360"/>
            <a:ext cx="256032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251960" y="1920240"/>
            <a:ext cx="640080" cy="64008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4251960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3429000" y="2651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confirmed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3429000" y="30632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クラスターで確認された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429000" y="3520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用途: UI表示・一般用途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126480" y="173736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6126480" y="1737360"/>
            <a:ext cx="256032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7086600" y="1920240"/>
            <a:ext cx="640080" cy="64008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7086600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263640" y="2651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finalized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263640" y="30632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完全に確定した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263640" y="3520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用途: 最終確定確認・決済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594360" y="438912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connection.getBalance(pubkey, "confirmed")    // UI表示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connection.getBalance(pubkey, "finalized")   // 最終確認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① RPC とインフラ設計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WebSocket RPC ─ リアルタイム更新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57200" y="123444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457200" y="1234440"/>
            <a:ext cx="256032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548640" y="1371600"/>
            <a:ext cx="2377440" cy="64008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685800" y="146304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accountSubscribe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94360" y="21031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wallet残高更新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3291840" y="123444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3291840" y="1234440"/>
            <a:ext cx="256032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3383280" y="1371600"/>
            <a:ext cx="2377440" cy="64008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3520440" y="146304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logsSubscribe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3429000" y="21031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transactionログ監視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6126480" y="123444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6126480" y="1234440"/>
            <a:ext cx="256032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6217920" y="1371600"/>
            <a:ext cx="2377440" cy="64008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6355080" y="146304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signatureSubscribe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263640" y="21031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NFT mintイベント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HTTP RPC との比較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2" name="Google Shape;252;p9"/>
          <p:cNvGraphicFramePr/>
          <p:nvPr/>
        </p:nvGraphicFramePr>
        <p:xfrm>
          <a:off x="457200" y="3840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{99A70F9D-51B8-4E14-8EEE-1DBFEC5753B0}</a:tableStyleId>
              </a:tblPr>
              <a:tblGrid>
                <a:gridCol w="1828800"/>
                <a:gridCol w="3200400"/>
                <a:gridCol w="3200400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4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HTTP RPC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4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WebSocket RPC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45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040"/>
                          </a:solidFill>
                        </a:rPr>
                        <a:t>通信方式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040"/>
                          </a:solidFill>
                        </a:rPr>
                        <a:t>リクエスト/レスポンス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040"/>
                          </a:solidFill>
                        </a:rPr>
                        <a:t>双方向・常時接続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040"/>
                          </a:solidFill>
                        </a:rPr>
                        <a:t>更新検知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040"/>
                          </a:solidFill>
                        </a:rPr>
                        <a:t>ポーリング必要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040"/>
                          </a:solidFill>
                        </a:rPr>
                        <a:t>プッシュ通知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040"/>
                          </a:solidFill>
                        </a:rPr>
                        <a:t>デフォルトcommitment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040"/>
                          </a:solidFill>
                        </a:rPr>
                        <a:t>confirmed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040"/>
                          </a:solidFill>
                        </a:rPr>
                        <a:t>finalized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① RPC とインフラ設計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Indexerと実運用アーキテクチャ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大規模サービスでは専用Indexerが必要になる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371600" y="1737360"/>
            <a:ext cx="4114800" cy="548640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1371600" y="173736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(React / Next.js)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1371600" y="22860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1371600" y="2487168"/>
            <a:ext cx="4114800" cy="548640"/>
          </a:xfrm>
          <a:prstGeom prst="rect">
            <a:avLst/>
          </a:prstGeom>
          <a:solidFill>
            <a:srgbClr val="03E1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1371600" y="2487168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RPC Provider (Helius / Triton etc.)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371600" y="303580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371600" y="3236976"/>
            <a:ext cx="4114800" cy="548640"/>
          </a:xfrm>
          <a:prstGeom prst="rect">
            <a:avLst/>
          </a:prstGeom>
          <a:solidFill>
            <a:srgbClr val="14F19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1371600" y="3236976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Indexer / Webhook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1371600" y="378561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1371600" y="3986784"/>
            <a:ext cx="4114800" cy="548640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1371600" y="3986784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/ Cache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943600" y="173736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5943600" y="1737360"/>
            <a:ext cx="274320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6108192" y="1856232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履歴検索の高速化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108192" y="2240280"/>
            <a:ext cx="2414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大量履歴を高速に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インデックスできる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5943600" y="283464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5943600" y="2834640"/>
            <a:ext cx="274320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6108192" y="2953512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キャッシュ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108192" y="3337560"/>
            <a:ext cx="2414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RPCの負荷を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削減できる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5943600" y="393192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5943600" y="3931920"/>
            <a:ext cx="274320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6108192" y="4050792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108192" y="4434840"/>
            <a:ext cx="2414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オンチェーンデータを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分析に活用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7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731520" y="1737360"/>
            <a:ext cx="1005840" cy="1005840"/>
          </a:xfrm>
          <a:prstGeom prst="ellipse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731520" y="17373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1920240" y="155448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トランザクション失敗の処理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1920240" y="283464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blockhash期限切れ・simulation失敗・残高不足・ユーザーキャンセル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457200" y="4663440"/>
            <a:ext cx="109728" cy="109728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777240" y="4663440"/>
            <a:ext cx="109728" cy="109728"/>
          </a:xfrm>
          <a:prstGeom prst="ellipse">
            <a:avLst/>
          </a:prstGeom>
          <a:solidFill>
            <a:srgbClr val="9945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1097280" y="4663440"/>
            <a:ext cx="109728" cy="109728"/>
          </a:xfrm>
          <a:prstGeom prst="ellipse">
            <a:avLst/>
          </a:prstGeom>
          <a:solidFill>
            <a:srgbClr val="9945F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1417320" y="4663440"/>
            <a:ext cx="109728" cy="109728"/>
          </a:xfrm>
          <a:prstGeom prst="ellipse">
            <a:avLst/>
          </a:prstGeom>
          <a:solidFill>
            <a:srgbClr val="9945FF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1737360" y="4663440"/>
            <a:ext cx="109728" cy="109728"/>
          </a:xfrm>
          <a:prstGeom prst="ellipse">
            <a:avLst/>
          </a:prstGeom>
          <a:solidFill>
            <a:srgbClr val="9945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② トランザクション失敗の処理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トランザクション処理の流れ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トランザクション失敗は例外ではなく通常のイベント ─ 失敗前提で設計する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-137160" y="1920240"/>
            <a:ext cx="1371600" cy="777240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-137160" y="192024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1417320" y="192024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1874520" y="1920240"/>
            <a:ext cx="1371600" cy="777240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1874520" y="192024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Wallet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3429000" y="192024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3886200" y="1920240"/>
            <a:ext cx="1371600" cy="777240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3886200" y="192024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RPC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5440680" y="192024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5897880" y="1920240"/>
            <a:ext cx="1371600" cy="777240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5897880" y="192024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7452360" y="192024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7909560" y="1920240"/>
            <a:ext cx="1371600" cy="777240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7909560" y="192024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confirmation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457200" y="3108960"/>
            <a:ext cx="192024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457200" y="3108960"/>
            <a:ext cx="19202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621792" y="3227832"/>
            <a:ext cx="1591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blockhash期限切れ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621792" y="3611880"/>
            <a:ext cx="159105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150 slots (≈60〜90秒)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で無効になる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2606040" y="3108960"/>
            <a:ext cx="192024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2606040" y="3108960"/>
            <a:ext cx="192024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2770632" y="3227832"/>
            <a:ext cx="1591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ネットワーク混雑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2770632" y="3611880"/>
            <a:ext cx="159105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Validatorへの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到達が遅延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4754880" y="3108960"/>
            <a:ext cx="192024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4754880" y="3108960"/>
            <a:ext cx="192024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4919472" y="3227832"/>
            <a:ext cx="1591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プログラムエラー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4919472" y="3611880"/>
            <a:ext cx="159105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instruction処理中に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発生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6903720" y="3108960"/>
            <a:ext cx="192024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6903720" y="3108960"/>
            <a:ext cx="192024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7068312" y="3227832"/>
            <a:ext cx="1591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ユーザー操作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7068312" y="3611880"/>
            <a:ext cx="159105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署名拒否・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cancel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② トランザクション失敗の処理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よくあるエラー ─ 4パターン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365760" y="1234440"/>
            <a:ext cx="40233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365760" y="1234440"/>
            <a:ext cx="40233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502920" y="13258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① blockhash expired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502920" y="1737360"/>
            <a:ext cx="1645920" cy="347472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640080" y="182880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BlockhashNotFound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502920" y="214884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有効期限: 約150 slots (60〜90秒)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署名が遅れると BlockhashNotFound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4754880" y="1234440"/>
            <a:ext cx="40233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4754880" y="1234440"/>
            <a:ext cx="402336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4892040" y="13258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② simulation failed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4892040" y="1737360"/>
            <a:ext cx="1645920" cy="347472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5029200" y="182880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simulation failed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4892040" y="214884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送信前のpreflight simulationで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signature / balance 検証に失敗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365760" y="3154680"/>
            <a:ext cx="40233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365760" y="3154680"/>
            <a:ext cx="402336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502920" y="32461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③ insufficient funds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502920" y="3657600"/>
            <a:ext cx="1645920" cy="347472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640080" y="374904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insufficient funds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502920" y="406908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SOL / token / rent が不足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失敗しても手数料は消費される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4754880" y="3154680"/>
            <a:ext cx="40233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4754880" y="3154680"/>
            <a:ext cx="402336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4892040" y="32461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④ signature rejected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4892040" y="3657600"/>
            <a:ext cx="1645920" cy="347472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3"/>
          <p:cNvSpPr/>
          <p:nvPr/>
        </p:nvSpPr>
        <p:spPr>
          <a:xfrm>
            <a:off x="5029200" y="374904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User rejected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4892040" y="406908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ユーザーがwallet popupを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閉じるかrejectした (キャンセル)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② トランザクション失敗の処理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sendTransaction の重要な注意点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FF6B6B">
              <a:alpha val="14901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sendTransaction が成功レスポンスを返しても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トランザクションが実際に処理された保証はない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457200" y="2468880"/>
            <a:ext cx="19202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457200" y="2468880"/>
            <a:ext cx="192024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621792" y="2587752"/>
            <a:ext cx="1591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sendTransaction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621792" y="2971800"/>
            <a:ext cx="159105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Tx受け付けを返すだけ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確定ではない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2606040" y="2468880"/>
            <a:ext cx="19202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4"/>
          <p:cNvSpPr/>
          <p:nvPr/>
        </p:nvSpPr>
        <p:spPr>
          <a:xfrm>
            <a:off x="2606040" y="2468880"/>
            <a:ext cx="19202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2770632" y="2587752"/>
            <a:ext cx="1591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blockhash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expiration監視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2770632" y="2971800"/>
            <a:ext cx="159105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期限切れで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失敗する可能性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4754880" y="2468880"/>
            <a:ext cx="19202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4"/>
          <p:cNvSpPr/>
          <p:nvPr/>
        </p:nvSpPr>
        <p:spPr>
          <a:xfrm>
            <a:off x="4754880" y="2468880"/>
            <a:ext cx="192024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4919472" y="2587752"/>
            <a:ext cx="1591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confirmTransaction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4919472" y="2971800"/>
            <a:ext cx="159105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processed→confirmed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→finalizedを追跡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6903720" y="2468880"/>
            <a:ext cx="19202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4"/>
          <p:cNvSpPr/>
          <p:nvPr/>
        </p:nvSpPr>
        <p:spPr>
          <a:xfrm>
            <a:off x="6903720" y="2468880"/>
            <a:ext cx="192024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7068312" y="2587752"/>
            <a:ext cx="1591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Status確認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7068312" y="2971800"/>
            <a:ext cx="159105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processed / confirmed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/ failedを表示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② トランザクション失敗の処理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フロントエンドで必要な実装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365760" y="1234440"/>
            <a:ext cx="40233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365760" y="1234440"/>
            <a:ext cx="402336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502920" y="132588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Loading表示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502920" y="1737360"/>
            <a:ext cx="3749040" cy="347472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640080" y="1828800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Sending transaction...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502920" y="214884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"Sending transaction..."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ユーザーに処理中を伝える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4754880" y="1234440"/>
            <a:ext cx="40233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5"/>
          <p:cNvSpPr/>
          <p:nvPr/>
        </p:nvSpPr>
        <p:spPr>
          <a:xfrm>
            <a:off x="4754880" y="1234440"/>
            <a:ext cx="402336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4892040" y="132588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Retry処理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4892040" y="1737360"/>
            <a:ext cx="3749040" cy="347472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5029200" y="1828800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retry(3, sendTx)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4892040" y="214884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RPCエラーなど一時的な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失敗に対する再送ロジック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365760" y="3154680"/>
            <a:ext cx="40233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365760" y="3154680"/>
            <a:ext cx="40233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502920" y="32461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エラーメッセージ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502920" y="3657600"/>
            <a:ext cx="3749040" cy="347472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640080" y="3749040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SOL残高が不足しています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502920" y="406908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技術的メッセージではなく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ユーザーが理解できる表現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4754880" y="3154680"/>
            <a:ext cx="40233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5"/>
          <p:cNvSpPr/>
          <p:nvPr/>
        </p:nvSpPr>
        <p:spPr>
          <a:xfrm>
            <a:off x="4754880" y="3154680"/>
            <a:ext cx="402336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4892040" y="32461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Success確認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4892040" y="3657600"/>
            <a:ext cx="3749040" cy="347472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5029200" y="3749040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confirmed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4892040" y="406908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sendTxではなく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confirmationまで追跡する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② トランザクション失敗の処理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実務ベストプラクティス ─ Optimistic UI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365760" y="1234440"/>
            <a:ext cx="393192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6"/>
          <p:cNvSpPr/>
          <p:nvPr/>
        </p:nvSpPr>
        <p:spPr>
          <a:xfrm>
            <a:off x="502920" y="132588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通常パターン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731520" y="1828800"/>
            <a:ext cx="3108960" cy="411480"/>
          </a:xfrm>
          <a:prstGeom prst="rect">
            <a:avLst/>
          </a:prstGeom>
          <a:solidFill>
            <a:srgbClr val="03E1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731520" y="18288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731520" y="237744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731520" y="2926080"/>
            <a:ext cx="3108960" cy="411480"/>
          </a:xfrm>
          <a:prstGeom prst="rect">
            <a:avLst/>
          </a:prstGeom>
          <a:solidFill>
            <a:srgbClr val="03E1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6"/>
          <p:cNvSpPr/>
          <p:nvPr/>
        </p:nvSpPr>
        <p:spPr>
          <a:xfrm>
            <a:off x="731520" y="29260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transaction confirm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731520" y="34747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731520" y="4023360"/>
            <a:ext cx="3108960" cy="411480"/>
          </a:xfrm>
          <a:prstGeom prst="rect">
            <a:avLst/>
          </a:prstGeom>
          <a:solidFill>
            <a:srgbClr val="03E1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6"/>
          <p:cNvSpPr/>
          <p:nvPr/>
        </p:nvSpPr>
        <p:spPr>
          <a:xfrm>
            <a:off x="731520" y="40233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 update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4846320" y="1234440"/>
            <a:ext cx="393192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4846320" y="1234440"/>
            <a:ext cx="393192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6"/>
          <p:cNvSpPr/>
          <p:nvPr/>
        </p:nvSpPr>
        <p:spPr>
          <a:xfrm>
            <a:off x="4983480" y="132588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Optimistic UI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5166360" y="1828800"/>
            <a:ext cx="3108960" cy="411480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"/>
          <p:cNvSpPr/>
          <p:nvPr/>
        </p:nvSpPr>
        <p:spPr>
          <a:xfrm>
            <a:off x="5166360" y="18288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5166360" y="237744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5166360" y="2926080"/>
            <a:ext cx="3108960" cy="411480"/>
          </a:xfrm>
          <a:prstGeom prst="rect">
            <a:avLst/>
          </a:prstGeom>
          <a:solidFill>
            <a:srgbClr val="14F19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6"/>
          <p:cNvSpPr/>
          <p:nvPr/>
        </p:nvSpPr>
        <p:spPr>
          <a:xfrm>
            <a:off x="5166360" y="29260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 update (先に)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5166360" y="34747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5166360" y="4023360"/>
            <a:ext cx="3108960" cy="411480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5166360" y="40233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transaction confirm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4846320" y="48463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→ UI先に更新することでUXが大幅改善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7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7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>
            <a:off x="731520" y="1737360"/>
            <a:ext cx="1005840" cy="1005840"/>
          </a:xfrm>
          <a:prstGeom prst="ellipse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7"/>
          <p:cNvSpPr/>
          <p:nvPr/>
        </p:nvSpPr>
        <p:spPr>
          <a:xfrm>
            <a:off x="731520" y="17373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1920240" y="155448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セキュリティ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1920240" y="283464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フロントエンド側 &amp; プログラム側の両方で防御する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457200" y="4663440"/>
            <a:ext cx="109728" cy="109728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7"/>
          <p:cNvSpPr/>
          <p:nvPr/>
        </p:nvSpPr>
        <p:spPr>
          <a:xfrm>
            <a:off x="777240" y="4663440"/>
            <a:ext cx="109728" cy="109728"/>
          </a:xfrm>
          <a:prstGeom prst="ellipse">
            <a:avLst/>
          </a:prstGeom>
          <a:solidFill>
            <a:srgbClr val="9945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7"/>
          <p:cNvSpPr/>
          <p:nvPr/>
        </p:nvSpPr>
        <p:spPr>
          <a:xfrm>
            <a:off x="1097280" y="4663440"/>
            <a:ext cx="109728" cy="109728"/>
          </a:xfrm>
          <a:prstGeom prst="ellipse">
            <a:avLst/>
          </a:prstGeom>
          <a:solidFill>
            <a:srgbClr val="9945F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1417320" y="4663440"/>
            <a:ext cx="109728" cy="109728"/>
          </a:xfrm>
          <a:prstGeom prst="ellipse">
            <a:avLst/>
          </a:prstGeom>
          <a:solidFill>
            <a:srgbClr val="9945FF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7"/>
          <p:cNvSpPr/>
          <p:nvPr/>
        </p:nvSpPr>
        <p:spPr>
          <a:xfrm>
            <a:off x="1737360" y="4663440"/>
            <a:ext cx="109728" cy="109728"/>
          </a:xfrm>
          <a:prstGeom prst="ellipse">
            <a:avLst/>
          </a:prstGeom>
          <a:solidFill>
            <a:srgbClr val="9945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8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8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③ セキュリティ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フロントエンド側のセキュリティ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8"/>
          <p:cNvSpPr/>
          <p:nvPr/>
        </p:nvSpPr>
        <p:spPr>
          <a:xfrm>
            <a:off x="365760" y="123444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8"/>
          <p:cNvSpPr/>
          <p:nvPr/>
        </p:nvSpPr>
        <p:spPr>
          <a:xfrm>
            <a:off x="365760" y="1234440"/>
            <a:ext cx="26517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8"/>
          <p:cNvSpPr/>
          <p:nvPr/>
        </p:nvSpPr>
        <p:spPr>
          <a:xfrm>
            <a:off x="530352" y="1353312"/>
            <a:ext cx="23225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① Wallet Phishing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8"/>
          <p:cNvSpPr/>
          <p:nvPr/>
        </p:nvSpPr>
        <p:spPr>
          <a:xfrm>
            <a:off x="530352" y="1737360"/>
            <a:ext cx="2322576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ユーザーが「ミント」のつもりでも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別の命令に署名させられることがある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対策: Program ID / instruction を明示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Verified Builds で本物か確認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8"/>
          <p:cNvSpPr/>
          <p:nvPr/>
        </p:nvSpPr>
        <p:spPr>
          <a:xfrm>
            <a:off x="3291840" y="123444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8"/>
          <p:cNvSpPr/>
          <p:nvPr/>
        </p:nvSpPr>
        <p:spPr>
          <a:xfrm>
            <a:off x="3291840" y="1234440"/>
            <a:ext cx="265176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8"/>
          <p:cNvSpPr/>
          <p:nvPr/>
        </p:nvSpPr>
        <p:spPr>
          <a:xfrm>
            <a:off x="3456432" y="1353312"/>
            <a:ext cx="23225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② Transaction Simulation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3456432" y="1737360"/>
            <a:ext cx="2322576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送信前に simulateTransaction 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エラーや想定外の挙動を事前確認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注意: 安全証明ではなく送信前チェック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8"/>
          <p:cNvSpPr/>
          <p:nvPr/>
        </p:nvSpPr>
        <p:spPr>
          <a:xfrm>
            <a:off x="6217920" y="123444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8"/>
          <p:cNvSpPr/>
          <p:nvPr/>
        </p:nvSpPr>
        <p:spPr>
          <a:xfrm>
            <a:off x="6217920" y="1234440"/>
            <a:ext cx="265176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8"/>
          <p:cNvSpPr/>
          <p:nvPr/>
        </p:nvSpPr>
        <p:spPr>
          <a:xfrm>
            <a:off x="6382512" y="1353312"/>
            <a:ext cx="23225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③ Malicious Program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6382512" y="1737360"/>
            <a:ext cx="2322576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参照している Program ID 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想定したものか確認が必要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Verified Build: デプロイ済みプログラムと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公開ソースの対応を検証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9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9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③ セキュリティ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9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プログラム側のセキュリティ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9"/>
          <p:cNvSpPr/>
          <p:nvPr/>
        </p:nvSpPr>
        <p:spPr>
          <a:xfrm>
            <a:off x="365760" y="123444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9"/>
          <p:cNvSpPr/>
          <p:nvPr/>
        </p:nvSpPr>
        <p:spPr>
          <a:xfrm>
            <a:off x="365760" y="1234440"/>
            <a:ext cx="265176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9"/>
          <p:cNvSpPr/>
          <p:nvPr/>
        </p:nvSpPr>
        <p:spPr>
          <a:xfrm>
            <a:off x="502920" y="13258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① Signer Check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502920" y="178308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重要操作では呼び出し元が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本当に署名しているか確認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CPIでもsigner権限は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勝手に増やせない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457200" y="3337560"/>
            <a:ext cx="2468880" cy="141732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9"/>
          <p:cNvSpPr/>
          <p:nvPr/>
        </p:nvSpPr>
        <p:spPr>
          <a:xfrm>
            <a:off x="594360" y="3429000"/>
            <a:ext cx="21945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ctx.accounts.authority.is_signer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9"/>
          <p:cNvSpPr/>
          <p:nvPr/>
        </p:nvSpPr>
        <p:spPr>
          <a:xfrm>
            <a:off x="3291840" y="123444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9"/>
          <p:cNvSpPr/>
          <p:nvPr/>
        </p:nvSpPr>
        <p:spPr>
          <a:xfrm>
            <a:off x="3291840" y="1234440"/>
            <a:ext cx="265176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9"/>
          <p:cNvSpPr/>
          <p:nvPr/>
        </p:nvSpPr>
        <p:spPr>
          <a:xfrm>
            <a:off x="3429000" y="13258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② Account Ownership Check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9"/>
          <p:cNvSpPr/>
          <p:nvPr/>
        </p:nvSpPr>
        <p:spPr>
          <a:xfrm>
            <a:off x="3429000" y="178308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渡されたaccountが本当に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自分のプログラム管理下か確認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ownerが違えばデータ変更は不可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9"/>
          <p:cNvSpPr/>
          <p:nvPr/>
        </p:nvSpPr>
        <p:spPr>
          <a:xfrm>
            <a:off x="3383280" y="3337560"/>
            <a:ext cx="2468880" cy="141732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9"/>
          <p:cNvSpPr/>
          <p:nvPr/>
        </p:nvSpPr>
        <p:spPr>
          <a:xfrm>
            <a:off x="3520440" y="3429000"/>
            <a:ext cx="21945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account.owner == program_id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9"/>
          <p:cNvSpPr/>
          <p:nvPr/>
        </p:nvSpPr>
        <p:spPr>
          <a:xfrm>
            <a:off x="6217920" y="123444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9"/>
          <p:cNvSpPr/>
          <p:nvPr/>
        </p:nvSpPr>
        <p:spPr>
          <a:xfrm>
            <a:off x="6217920" y="1234440"/>
            <a:ext cx="265176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9"/>
          <p:cNvSpPr/>
          <p:nvPr/>
        </p:nvSpPr>
        <p:spPr>
          <a:xfrm>
            <a:off x="6355080" y="13258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③ PDA Validation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9"/>
          <p:cNvSpPr/>
          <p:nvPr/>
        </p:nvSpPr>
        <p:spPr>
          <a:xfrm>
            <a:off x="6355080" y="178308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渡されたアドレスが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正しいseedsから導出されているか検証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3点セットで確認することが重要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6309360" y="3337560"/>
            <a:ext cx="2468880" cy="141732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9"/>
          <p:cNvSpPr/>
          <p:nvPr/>
        </p:nvSpPr>
        <p:spPr>
          <a:xfrm>
            <a:off x="6446520" y="3429000"/>
            <a:ext cx="21945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require_keys_eq!(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  authority,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  expected_authority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0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0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③ セキュリティ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セキュリティ ─ 3点セットで守る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「何を守っているのか」を意識した3点セット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457200" y="1828800"/>
            <a:ext cx="1463040" cy="2011680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0"/>
          <p:cNvSpPr/>
          <p:nvPr/>
        </p:nvSpPr>
        <p:spPr>
          <a:xfrm>
            <a:off x="457200" y="1828800"/>
            <a:ext cx="1463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署名確認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0"/>
          <p:cNvSpPr/>
          <p:nvPr/>
        </p:nvSpPr>
        <p:spPr>
          <a:xfrm>
            <a:off x="457200" y="292608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本当に権限のある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人物か？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0"/>
          <p:cNvSpPr/>
          <p:nvPr/>
        </p:nvSpPr>
        <p:spPr>
          <a:xfrm>
            <a:off x="2103120" y="2011680"/>
            <a:ext cx="457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0"/>
          <p:cNvSpPr/>
          <p:nvPr/>
        </p:nvSpPr>
        <p:spPr>
          <a:xfrm>
            <a:off x="3749040" y="1828800"/>
            <a:ext cx="1463040" cy="2011680"/>
          </a:xfrm>
          <a:prstGeom prst="rect">
            <a:avLst/>
          </a:prstGeom>
          <a:solidFill>
            <a:srgbClr val="14F19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0"/>
          <p:cNvSpPr/>
          <p:nvPr/>
        </p:nvSpPr>
        <p:spPr>
          <a:xfrm>
            <a:off x="3749040" y="1828800"/>
            <a:ext cx="1463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Owner確認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0"/>
          <p:cNvSpPr/>
          <p:nvPr/>
        </p:nvSpPr>
        <p:spPr>
          <a:xfrm>
            <a:off x="3749040" y="292608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このaccountは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自分のプログラムか？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5394960" y="2011680"/>
            <a:ext cx="457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0"/>
          <p:cNvSpPr/>
          <p:nvPr/>
        </p:nvSpPr>
        <p:spPr>
          <a:xfrm>
            <a:off x="7040880" y="1828800"/>
            <a:ext cx="1463040" cy="2011680"/>
          </a:xfrm>
          <a:prstGeom prst="rect">
            <a:avLst/>
          </a:prstGeom>
          <a:solidFill>
            <a:srgbClr val="03E1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0"/>
          <p:cNvSpPr/>
          <p:nvPr/>
        </p:nvSpPr>
        <p:spPr>
          <a:xfrm>
            <a:off x="7040880" y="1828800"/>
            <a:ext cx="1463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PDA再導出確認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0"/>
          <p:cNvSpPr/>
          <p:nvPr/>
        </p:nvSpPr>
        <p:spPr>
          <a:xfrm>
            <a:off x="7040880" y="292608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seedsから導出した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アドレスと一致するか？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0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0"/>
          <p:cNvSpPr/>
          <p:nvPr/>
        </p:nvSpPr>
        <p:spPr>
          <a:xfrm>
            <a:off x="640080" y="4160520"/>
            <a:ext cx="7863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4F8"/>
                </a:solidFill>
                <a:latin typeface="Calibri"/>
                <a:ea typeface="Calibri"/>
                <a:cs typeface="Calibri"/>
                <a:sym typeface="Calibri"/>
              </a:rPr>
              <a:t>これら3つを怠ると、攻撃者が意図しないaccountを差し込んだり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4F8"/>
                </a:solidFill>
                <a:latin typeface="Calibri"/>
                <a:ea typeface="Calibri"/>
                <a:cs typeface="Calibri"/>
                <a:sym typeface="Calibri"/>
              </a:rPr>
              <a:t>権限のない操作を実行できる余地が生まれる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7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1"/>
          <p:cNvSpPr/>
          <p:nvPr/>
        </p:nvSpPr>
        <p:spPr>
          <a:xfrm>
            <a:off x="731520" y="1737360"/>
            <a:ext cx="1005840" cy="1005840"/>
          </a:xfrm>
          <a:prstGeom prst="ellipse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1"/>
          <p:cNvSpPr/>
          <p:nvPr/>
        </p:nvSpPr>
        <p:spPr>
          <a:xfrm>
            <a:off x="731520" y="17373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1"/>
          <p:cNvSpPr/>
          <p:nvPr/>
        </p:nvSpPr>
        <p:spPr>
          <a:xfrm>
            <a:off x="1920240" y="155448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状態管理 (State Management)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1920240" y="283464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Account設計・PDA・Seed・Bump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457200" y="4663440"/>
            <a:ext cx="109728" cy="109728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1"/>
          <p:cNvSpPr/>
          <p:nvPr/>
        </p:nvSpPr>
        <p:spPr>
          <a:xfrm>
            <a:off x="777240" y="4663440"/>
            <a:ext cx="109728" cy="109728"/>
          </a:xfrm>
          <a:prstGeom prst="ellipse">
            <a:avLst/>
          </a:prstGeom>
          <a:solidFill>
            <a:srgbClr val="9945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1"/>
          <p:cNvSpPr/>
          <p:nvPr/>
        </p:nvSpPr>
        <p:spPr>
          <a:xfrm>
            <a:off x="1097280" y="4663440"/>
            <a:ext cx="109728" cy="109728"/>
          </a:xfrm>
          <a:prstGeom prst="ellipse">
            <a:avLst/>
          </a:prstGeom>
          <a:solidFill>
            <a:srgbClr val="9945F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1"/>
          <p:cNvSpPr/>
          <p:nvPr/>
        </p:nvSpPr>
        <p:spPr>
          <a:xfrm>
            <a:off x="1417320" y="4663440"/>
            <a:ext cx="109728" cy="109728"/>
          </a:xfrm>
          <a:prstGeom prst="ellipse">
            <a:avLst/>
          </a:prstGeom>
          <a:solidFill>
            <a:srgbClr val="9945FF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1"/>
          <p:cNvSpPr/>
          <p:nvPr/>
        </p:nvSpPr>
        <p:spPr>
          <a:xfrm>
            <a:off x="1737360" y="4663440"/>
            <a:ext cx="109728" cy="109728"/>
          </a:xfrm>
          <a:prstGeom prst="ellipse">
            <a:avLst/>
          </a:prstGeom>
          <a:solidFill>
            <a:srgbClr val="9945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2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④ 状態管理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2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Accountベースの状態管理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2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Solanaではstate design = account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後からカラムを足す感覚ではなく、保存先そのものを設計する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2"/>
          <p:cNvSpPr/>
          <p:nvPr/>
        </p:nvSpPr>
        <p:spPr>
          <a:xfrm>
            <a:off x="457200" y="2011680"/>
            <a:ext cx="393192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2"/>
          <p:cNvSpPr/>
          <p:nvPr/>
        </p:nvSpPr>
        <p:spPr>
          <a:xfrm>
            <a:off x="457200" y="2011680"/>
            <a:ext cx="393192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2"/>
          <p:cNvSpPr/>
          <p:nvPr/>
        </p:nvSpPr>
        <p:spPr>
          <a:xfrm>
            <a:off x="621792" y="2130552"/>
            <a:ext cx="36027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Config Account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2"/>
          <p:cNvSpPr/>
          <p:nvPr/>
        </p:nvSpPr>
        <p:spPr>
          <a:xfrm>
            <a:off x="621792" y="2514600"/>
            <a:ext cx="36027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アプリ全体の設定を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1つのaccountに保存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2"/>
          <p:cNvSpPr/>
          <p:nvPr/>
        </p:nvSpPr>
        <p:spPr>
          <a:xfrm>
            <a:off x="4709160" y="2011680"/>
            <a:ext cx="393192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2"/>
          <p:cNvSpPr/>
          <p:nvPr/>
        </p:nvSpPr>
        <p:spPr>
          <a:xfrm>
            <a:off x="4709160" y="2011680"/>
            <a:ext cx="393192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2"/>
          <p:cNvSpPr/>
          <p:nvPr/>
        </p:nvSpPr>
        <p:spPr>
          <a:xfrm>
            <a:off x="4873752" y="2130552"/>
            <a:ext cx="36027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User Profile Account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2"/>
          <p:cNvSpPr/>
          <p:nvPr/>
        </p:nvSpPr>
        <p:spPr>
          <a:xfrm>
            <a:off x="4873752" y="2514600"/>
            <a:ext cx="36027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ユーザーごとの情報を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個別accountに保存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2"/>
          <p:cNvSpPr/>
          <p:nvPr/>
        </p:nvSpPr>
        <p:spPr>
          <a:xfrm>
            <a:off x="457200" y="3520440"/>
            <a:ext cx="393192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2"/>
          <p:cNvSpPr/>
          <p:nvPr/>
        </p:nvSpPr>
        <p:spPr>
          <a:xfrm>
            <a:off x="457200" y="3520440"/>
            <a:ext cx="393192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2"/>
          <p:cNvSpPr/>
          <p:nvPr/>
        </p:nvSpPr>
        <p:spPr>
          <a:xfrm>
            <a:off x="621792" y="3639312"/>
            <a:ext cx="36027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Vault Account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2"/>
          <p:cNvSpPr/>
          <p:nvPr/>
        </p:nvSpPr>
        <p:spPr>
          <a:xfrm>
            <a:off x="621792" y="4023360"/>
            <a:ext cx="36027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資産管理用の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専用account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4709160" y="3520440"/>
            <a:ext cx="393192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2"/>
          <p:cNvSpPr/>
          <p:nvPr/>
        </p:nvSpPr>
        <p:spPr>
          <a:xfrm>
            <a:off x="4709160" y="3520440"/>
            <a:ext cx="39319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2"/>
          <p:cNvSpPr/>
          <p:nvPr/>
        </p:nvSpPr>
        <p:spPr>
          <a:xfrm>
            <a:off x="4873752" y="3639312"/>
            <a:ext cx="36027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Order Account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2"/>
          <p:cNvSpPr/>
          <p:nvPr/>
        </p:nvSpPr>
        <p:spPr>
          <a:xfrm>
            <a:off x="4873752" y="4023360"/>
            <a:ext cx="36027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注文ごとの状態を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保存するaccount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accountはデータサイズに応じた最低lamports (rent) が必要 → サイズ設計も重要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3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3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④ 状態管理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3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PDA (Program Derived Address)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PDA = プログラムが管理するアドレス (秘密鍵なし)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3"/>
          <p:cNvSpPr/>
          <p:nvPr/>
        </p:nvSpPr>
        <p:spPr>
          <a:xfrm>
            <a:off x="594360" y="178308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PDA = hash(seeds + program_id)    // Ed25519曲線外に存在する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8" name="Google Shape;608;p23"/>
          <p:cNvGraphicFramePr/>
          <p:nvPr/>
        </p:nvGraphicFramePr>
        <p:xfrm>
          <a:off x="457200" y="23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{99A70F9D-51B8-4E14-8EEE-1DBFEC5753B0}</a:tableStyleId>
              </a:tblPr>
              <a:tblGrid>
                <a:gridCol w="1645925"/>
                <a:gridCol w="3291850"/>
                <a:gridCol w="32918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4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通常のAddress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4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PDA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45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040"/>
                          </a:solidFill>
                        </a:rPr>
                        <a:t>秘密鍵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040"/>
                          </a:solidFill>
                        </a:rPr>
                        <a:t>あり (人が管理)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040"/>
                          </a:solidFill>
                        </a:rPr>
                        <a:t>なし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B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040"/>
                          </a:solidFill>
                        </a:rPr>
                        <a:t>署名方法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040"/>
                          </a:solidFill>
                        </a:rPr>
                        <a:t>秘密鍵で署名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040"/>
                          </a:solidFill>
                        </a:rPr>
                        <a:t>invoke_signed (プログラムのみ)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B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040"/>
                          </a:solidFill>
                        </a:rPr>
                        <a:t>管理者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040"/>
                          </a:solidFill>
                        </a:rPr>
                        <a:t>ウォレット保持者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040"/>
                          </a:solidFill>
                        </a:rPr>
                        <a:t>導出したプログラム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B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040"/>
                          </a:solidFill>
                        </a:rPr>
                        <a:t>用途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040"/>
                          </a:solidFill>
                        </a:rPr>
                        <a:t>ユーザーのウォレット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0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040"/>
                          </a:solidFill>
                        </a:rPr>
                        <a:t>プログラムが管理するState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BFF"/>
                    </a:solidFill>
                  </a:tcPr>
                </a:tc>
              </a:tr>
            </a:tbl>
          </a:graphicData>
        </a:graphic>
      </p:graphicFrame>
      <p:sp>
        <p:nvSpPr>
          <p:cNvPr id="609" name="Google Shape;609;p2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PDAはその導出プログラムだけがinvoke_signedを通じて署名できる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4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4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④ 状態管理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4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Seed と Bump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4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Seed = accountの命名規則 ─ 「どのaccountを一意に識別したいか」をseedで表現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4"/>
          <p:cNvSpPr/>
          <p:nvPr/>
        </p:nvSpPr>
        <p:spPr>
          <a:xfrm>
            <a:off x="457200" y="173736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4"/>
          <p:cNvSpPr/>
          <p:nvPr/>
        </p:nvSpPr>
        <p:spPr>
          <a:xfrm>
            <a:off x="457200" y="1737360"/>
            <a:ext cx="256032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4"/>
          <p:cNvSpPr/>
          <p:nvPr/>
        </p:nvSpPr>
        <p:spPr>
          <a:xfrm>
            <a:off x="594360" y="1828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全体設定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4"/>
          <p:cNvSpPr/>
          <p:nvPr/>
        </p:nvSpPr>
        <p:spPr>
          <a:xfrm>
            <a:off x="594360" y="2212848"/>
            <a:ext cx="2286000" cy="438912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4"/>
          <p:cNvSpPr/>
          <p:nvPr/>
        </p:nvSpPr>
        <p:spPr>
          <a:xfrm>
            <a:off x="731520" y="230428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["config"]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4"/>
          <p:cNvSpPr/>
          <p:nvPr/>
        </p:nvSpPr>
        <p:spPr>
          <a:xfrm>
            <a:off x="3291840" y="173736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4"/>
          <p:cNvSpPr/>
          <p:nvPr/>
        </p:nvSpPr>
        <p:spPr>
          <a:xfrm>
            <a:off x="3291840" y="1737360"/>
            <a:ext cx="256032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4"/>
          <p:cNvSpPr/>
          <p:nvPr/>
        </p:nvSpPr>
        <p:spPr>
          <a:xfrm>
            <a:off x="3429000" y="1828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ユーザーごと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4"/>
          <p:cNvSpPr/>
          <p:nvPr/>
        </p:nvSpPr>
        <p:spPr>
          <a:xfrm>
            <a:off x="3429000" y="2212848"/>
            <a:ext cx="2286000" cy="438912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4"/>
          <p:cNvSpPr/>
          <p:nvPr/>
        </p:nvSpPr>
        <p:spPr>
          <a:xfrm>
            <a:off x="3566160" y="230428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["profile", user_pubkey]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4"/>
          <p:cNvSpPr/>
          <p:nvPr/>
        </p:nvSpPr>
        <p:spPr>
          <a:xfrm>
            <a:off x="6126480" y="173736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4"/>
          <p:cNvSpPr/>
          <p:nvPr/>
        </p:nvSpPr>
        <p:spPr>
          <a:xfrm>
            <a:off x="6126480" y="1737360"/>
            <a:ext cx="256032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4"/>
          <p:cNvSpPr/>
          <p:nvPr/>
        </p:nvSpPr>
        <p:spPr>
          <a:xfrm>
            <a:off x="6263640" y="1828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Token Vault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4"/>
          <p:cNvSpPr/>
          <p:nvPr/>
        </p:nvSpPr>
        <p:spPr>
          <a:xfrm>
            <a:off x="6263640" y="2212848"/>
            <a:ext cx="2286000" cy="438912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4"/>
          <p:cNvSpPr/>
          <p:nvPr/>
        </p:nvSpPr>
        <p:spPr>
          <a:xfrm>
            <a:off x="6400800" y="230428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["vault", mint_pubkey]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4"/>
          <p:cNvSpPr/>
          <p:nvPr/>
        </p:nvSpPr>
        <p:spPr>
          <a:xfrm>
            <a:off x="457200" y="2926080"/>
            <a:ext cx="822960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4"/>
          <p:cNvSpPr/>
          <p:nvPr/>
        </p:nvSpPr>
        <p:spPr>
          <a:xfrm>
            <a:off x="457200" y="2926080"/>
            <a:ext cx="82296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4"/>
          <p:cNvSpPr/>
          <p:nvPr/>
        </p:nvSpPr>
        <p:spPr>
          <a:xfrm>
            <a:off x="594360" y="3017520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Bump とは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4"/>
          <p:cNvSpPr/>
          <p:nvPr/>
        </p:nvSpPr>
        <p:spPr>
          <a:xfrm>
            <a:off x="594360" y="3429000"/>
            <a:ext cx="7955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PDA導出時に追加で使う1バイトの調整値 (0〜255)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find_program_address が255→0に向かってbumpを試し、Ed25519曲線外になる最初の値 = canonical bump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公式: canonical bumpを常に使うべきと推奨している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7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5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5"/>
          <p:cNvSpPr/>
          <p:nvPr/>
        </p:nvSpPr>
        <p:spPr>
          <a:xfrm>
            <a:off x="731520" y="1737360"/>
            <a:ext cx="1005840" cy="1005840"/>
          </a:xfrm>
          <a:prstGeom prst="ellipse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5"/>
          <p:cNvSpPr/>
          <p:nvPr/>
        </p:nvSpPr>
        <p:spPr>
          <a:xfrm>
            <a:off x="731520" y="17373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5"/>
          <p:cNvSpPr/>
          <p:nvPr/>
        </p:nvSpPr>
        <p:spPr>
          <a:xfrm>
            <a:off x="1920240" y="155448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トランザクションサイズと Compute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5"/>
          <p:cNvSpPr/>
          <p:nvPr/>
        </p:nvSpPr>
        <p:spPr>
          <a:xfrm>
            <a:off x="1920240" y="283464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CU制限・サイズ制限・CPI・ALT・最適化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5"/>
          <p:cNvSpPr/>
          <p:nvPr/>
        </p:nvSpPr>
        <p:spPr>
          <a:xfrm>
            <a:off x="457200" y="4663440"/>
            <a:ext cx="109728" cy="109728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5"/>
          <p:cNvSpPr/>
          <p:nvPr/>
        </p:nvSpPr>
        <p:spPr>
          <a:xfrm>
            <a:off x="777240" y="4663440"/>
            <a:ext cx="109728" cy="109728"/>
          </a:xfrm>
          <a:prstGeom prst="ellipse">
            <a:avLst/>
          </a:prstGeom>
          <a:solidFill>
            <a:srgbClr val="9945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5"/>
          <p:cNvSpPr/>
          <p:nvPr/>
        </p:nvSpPr>
        <p:spPr>
          <a:xfrm>
            <a:off x="1097280" y="4663440"/>
            <a:ext cx="109728" cy="109728"/>
          </a:xfrm>
          <a:prstGeom prst="ellipse">
            <a:avLst/>
          </a:prstGeom>
          <a:solidFill>
            <a:srgbClr val="9945F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5"/>
          <p:cNvSpPr/>
          <p:nvPr/>
        </p:nvSpPr>
        <p:spPr>
          <a:xfrm>
            <a:off x="1417320" y="4663440"/>
            <a:ext cx="109728" cy="109728"/>
          </a:xfrm>
          <a:prstGeom prst="ellipse">
            <a:avLst/>
          </a:prstGeom>
          <a:solidFill>
            <a:srgbClr val="9945FF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5"/>
          <p:cNvSpPr/>
          <p:nvPr/>
        </p:nvSpPr>
        <p:spPr>
          <a:xfrm>
            <a:off x="1737360" y="4663440"/>
            <a:ext cx="109728" cy="109728"/>
          </a:xfrm>
          <a:prstGeom prst="ellipse">
            <a:avLst/>
          </a:prstGeom>
          <a:solidFill>
            <a:srgbClr val="9945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6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6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⑤ トランザクションサイズと Compute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6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Solanaの主な制限値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6"/>
          <p:cNvSpPr/>
          <p:nvPr/>
        </p:nvSpPr>
        <p:spPr>
          <a:xfrm>
            <a:off x="457200" y="1234440"/>
            <a:ext cx="1920240" cy="2011680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457200" y="141732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200,000 CU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6"/>
          <p:cNvSpPr/>
          <p:nvPr/>
        </p:nvSpPr>
        <p:spPr>
          <a:xfrm>
            <a:off x="457200" y="233172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Instruction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デフォルトCU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6"/>
          <p:cNvSpPr/>
          <p:nvPr/>
        </p:nvSpPr>
        <p:spPr>
          <a:xfrm>
            <a:off x="2606040" y="1234440"/>
            <a:ext cx="1920240" cy="2011680"/>
          </a:xfrm>
          <a:prstGeom prst="rect">
            <a:avLst/>
          </a:prstGeom>
          <a:solidFill>
            <a:srgbClr val="03E1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2606040" y="141732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1,400,000 CU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6"/>
          <p:cNvSpPr/>
          <p:nvPr/>
        </p:nvSpPr>
        <p:spPr>
          <a:xfrm>
            <a:off x="2606040" y="233172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最大CU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6"/>
          <p:cNvSpPr/>
          <p:nvPr/>
        </p:nvSpPr>
        <p:spPr>
          <a:xfrm>
            <a:off x="4754880" y="1234440"/>
            <a:ext cx="1920240" cy="2011680"/>
          </a:xfrm>
          <a:prstGeom prst="rect">
            <a:avLst/>
          </a:prstGeom>
          <a:solidFill>
            <a:srgbClr val="14F19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6"/>
          <p:cNvSpPr/>
          <p:nvPr/>
        </p:nvSpPr>
        <p:spPr>
          <a:xfrm>
            <a:off x="4754880" y="141732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1,232 bytes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6"/>
          <p:cNvSpPr/>
          <p:nvPr/>
        </p:nvSpPr>
        <p:spPr>
          <a:xfrm>
            <a:off x="4754880" y="233172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最大サイズ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6"/>
          <p:cNvSpPr/>
          <p:nvPr/>
        </p:nvSpPr>
        <p:spPr>
          <a:xfrm>
            <a:off x="6903720" y="1234440"/>
            <a:ext cx="1920240" cy="2011680"/>
          </a:xfrm>
          <a:prstGeom prst="rect">
            <a:avLst/>
          </a:prstGeom>
          <a:solidFill>
            <a:srgbClr val="FF6B6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6"/>
          <p:cNvSpPr/>
          <p:nvPr/>
        </p:nvSpPr>
        <p:spPr>
          <a:xfrm>
            <a:off x="6903720" y="141732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最大 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6"/>
          <p:cNvSpPr/>
          <p:nvPr/>
        </p:nvSpPr>
        <p:spPr>
          <a:xfrm>
            <a:off x="6903720" y="233172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Depth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6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制限超過時のエラー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6"/>
          <p:cNvSpPr/>
          <p:nvPr/>
        </p:nvSpPr>
        <p:spPr>
          <a:xfrm>
            <a:off x="502920" y="3840480"/>
            <a:ext cx="2286000" cy="777240"/>
          </a:xfrm>
          <a:prstGeom prst="rect">
            <a:avLst/>
          </a:prstGeom>
          <a:solidFill>
            <a:srgbClr val="03E1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6"/>
          <p:cNvSpPr/>
          <p:nvPr/>
        </p:nvSpPr>
        <p:spPr>
          <a:xfrm>
            <a:off x="502920" y="38404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処理が重い 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accountが多い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6"/>
          <p:cNvSpPr/>
          <p:nvPr/>
        </p:nvSpPr>
        <p:spPr>
          <a:xfrm>
            <a:off x="2971800" y="384048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6"/>
          <p:cNvSpPr/>
          <p:nvPr/>
        </p:nvSpPr>
        <p:spPr>
          <a:xfrm>
            <a:off x="3429000" y="3840480"/>
            <a:ext cx="2286000" cy="777240"/>
          </a:xfrm>
          <a:prstGeom prst="rect">
            <a:avLst/>
          </a:prstGeom>
          <a:solidFill>
            <a:srgbClr val="03E1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6"/>
          <p:cNvSpPr/>
          <p:nvPr/>
        </p:nvSpPr>
        <p:spPr>
          <a:xfrm>
            <a:off x="3429000" y="38404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CU超過 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サイズ超過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5897880" y="384048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6"/>
          <p:cNvSpPr/>
          <p:nvPr/>
        </p:nvSpPr>
        <p:spPr>
          <a:xfrm>
            <a:off x="6355080" y="3840480"/>
            <a:ext cx="2286000" cy="777240"/>
          </a:xfrm>
          <a:prstGeom prst="rect">
            <a:avLst/>
          </a:prstGeom>
          <a:solidFill>
            <a:srgbClr val="03E1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6"/>
          <p:cNvSpPr/>
          <p:nvPr/>
        </p:nvSpPr>
        <p:spPr>
          <a:xfrm>
            <a:off x="6355080" y="38404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ComputeBudgetExceeded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TransactionTooLarge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6"/>
          <p:cNvSpPr/>
          <p:nvPr/>
        </p:nvSpPr>
        <p:spPr>
          <a:xfrm>
            <a:off x="6126480" y="3840480"/>
            <a:ext cx="2560320" cy="777240"/>
          </a:xfrm>
          <a:prstGeom prst="rect">
            <a:avLst/>
          </a:prstGeom>
          <a:solidFill>
            <a:srgbClr val="FF6B6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6"/>
          <p:cNvSpPr/>
          <p:nvPr/>
        </p:nvSpPr>
        <p:spPr>
          <a:xfrm>
            <a:off x="6126480" y="384048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ComputeBudgetExceeded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TransactionTooLarge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7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7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⑤ トランザクションサイズと Compute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7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Compute Unit (CU) と Compute Budget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7"/>
          <p:cNvSpPr/>
          <p:nvPr/>
        </p:nvSpPr>
        <p:spPr>
          <a:xfrm>
            <a:off x="457200" y="123444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CUを消費する処理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7"/>
          <p:cNvSpPr/>
          <p:nvPr/>
        </p:nvSpPr>
        <p:spPr>
          <a:xfrm>
            <a:off x="457200" y="1645920"/>
            <a:ext cx="3840480" cy="45720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7"/>
          <p:cNvSpPr/>
          <p:nvPr/>
        </p:nvSpPr>
        <p:spPr>
          <a:xfrm>
            <a:off x="548640" y="1719072"/>
            <a:ext cx="292608" cy="292608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7"/>
          <p:cNvSpPr/>
          <p:nvPr/>
        </p:nvSpPr>
        <p:spPr>
          <a:xfrm>
            <a:off x="960120" y="1673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account読み込み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7"/>
          <p:cNvSpPr/>
          <p:nvPr/>
        </p:nvSpPr>
        <p:spPr>
          <a:xfrm>
            <a:off x="457200" y="224028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7"/>
          <p:cNvSpPr/>
          <p:nvPr/>
        </p:nvSpPr>
        <p:spPr>
          <a:xfrm>
            <a:off x="548640" y="2313432"/>
            <a:ext cx="292608" cy="292608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7"/>
          <p:cNvSpPr/>
          <p:nvPr/>
        </p:nvSpPr>
        <p:spPr>
          <a:xfrm>
            <a:off x="960120" y="226771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CPI呼び出し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7"/>
          <p:cNvSpPr/>
          <p:nvPr/>
        </p:nvSpPr>
        <p:spPr>
          <a:xfrm>
            <a:off x="457200" y="2834640"/>
            <a:ext cx="3840480" cy="45720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7"/>
          <p:cNvSpPr/>
          <p:nvPr/>
        </p:nvSpPr>
        <p:spPr>
          <a:xfrm>
            <a:off x="548640" y="2907792"/>
            <a:ext cx="292608" cy="292608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7"/>
          <p:cNvSpPr/>
          <p:nvPr/>
        </p:nvSpPr>
        <p:spPr>
          <a:xfrm>
            <a:off x="960120" y="286207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ログ出力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7"/>
          <p:cNvSpPr/>
          <p:nvPr/>
        </p:nvSpPr>
        <p:spPr>
          <a:xfrm>
            <a:off x="457200" y="342900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7"/>
          <p:cNvSpPr/>
          <p:nvPr/>
        </p:nvSpPr>
        <p:spPr>
          <a:xfrm>
            <a:off x="548640" y="3502152"/>
            <a:ext cx="292608" cy="292608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7"/>
          <p:cNvSpPr/>
          <p:nvPr/>
        </p:nvSpPr>
        <p:spPr>
          <a:xfrm>
            <a:off x="960120" y="345643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重い計算処理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7"/>
          <p:cNvSpPr/>
          <p:nvPr/>
        </p:nvSpPr>
        <p:spPr>
          <a:xfrm>
            <a:off x="4572000" y="1234440"/>
            <a:ext cx="420624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7"/>
          <p:cNvSpPr/>
          <p:nvPr/>
        </p:nvSpPr>
        <p:spPr>
          <a:xfrm>
            <a:off x="4572000" y="1234440"/>
            <a:ext cx="420624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7"/>
          <p:cNvSpPr/>
          <p:nvPr/>
        </p:nvSpPr>
        <p:spPr>
          <a:xfrm>
            <a:off x="4709160" y="13258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Compute Budget Program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7"/>
          <p:cNvSpPr/>
          <p:nvPr/>
        </p:nvSpPr>
        <p:spPr>
          <a:xfrm>
            <a:off x="4709160" y="17190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Txに付加してCUとPriority Feeを設定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7"/>
          <p:cNvSpPr/>
          <p:nvPr/>
        </p:nvSpPr>
        <p:spPr>
          <a:xfrm>
            <a:off x="4709160" y="2103120"/>
            <a:ext cx="3931920" cy="45720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7"/>
          <p:cNvSpPr/>
          <p:nvPr/>
        </p:nvSpPr>
        <p:spPr>
          <a:xfrm>
            <a:off x="4846320" y="21945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SetComputeUnitLimit(200_000)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7"/>
          <p:cNvSpPr/>
          <p:nvPr/>
        </p:nvSpPr>
        <p:spPr>
          <a:xfrm>
            <a:off x="4709160" y="2651760"/>
            <a:ext cx="3931920" cy="45720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7"/>
          <p:cNvSpPr/>
          <p:nvPr/>
        </p:nvSpPr>
        <p:spPr>
          <a:xfrm>
            <a:off x="4846320" y="2743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SetComputeUnitPrice(1000)  // microlamports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7"/>
          <p:cNvSpPr/>
          <p:nvPr/>
        </p:nvSpPr>
        <p:spPr>
          <a:xfrm>
            <a:off x="4709160" y="324612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Priority Fee: ネットワーク混雑時に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Txが優先処理されるよう追加支払い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8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8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⑤ トランザクションサイズと Compute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8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CPI (Cross Program Invocation)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8"/>
          <p:cNvSpPr/>
          <p:nvPr/>
        </p:nvSpPr>
        <p:spPr>
          <a:xfrm>
            <a:off x="457200" y="12344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プログラムから別のプログラムを呼び出す仕組み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8"/>
          <p:cNvSpPr/>
          <p:nvPr/>
        </p:nvSpPr>
        <p:spPr>
          <a:xfrm>
            <a:off x="457200" y="1737360"/>
            <a:ext cx="2560320" cy="731520"/>
          </a:xfrm>
          <a:prstGeom prst="rect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8"/>
          <p:cNvSpPr/>
          <p:nvPr/>
        </p:nvSpPr>
        <p:spPr>
          <a:xfrm>
            <a:off x="457200" y="173736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Program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8"/>
          <p:cNvSpPr/>
          <p:nvPr/>
        </p:nvSpPr>
        <p:spPr>
          <a:xfrm>
            <a:off x="3108960" y="18745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→ CPI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8"/>
          <p:cNvSpPr/>
          <p:nvPr/>
        </p:nvSpPr>
        <p:spPr>
          <a:xfrm>
            <a:off x="457200" y="2743200"/>
            <a:ext cx="2560320" cy="731520"/>
          </a:xfrm>
          <a:prstGeom prst="rect">
            <a:avLst/>
          </a:prstGeom>
          <a:solidFill>
            <a:srgbClr val="03E1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8"/>
          <p:cNvSpPr/>
          <p:nvPr/>
        </p:nvSpPr>
        <p:spPr>
          <a:xfrm>
            <a:off x="457200" y="274320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Token Program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(SPL Token)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8"/>
          <p:cNvSpPr/>
          <p:nvPr/>
        </p:nvSpPr>
        <p:spPr>
          <a:xfrm>
            <a:off x="3108960" y="28803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45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945FF"/>
                </a:solidFill>
                <a:latin typeface="Calibri"/>
                <a:ea typeface="Calibri"/>
                <a:cs typeface="Calibri"/>
                <a:sym typeface="Calibri"/>
              </a:rPr>
              <a:t>→ CPI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8"/>
          <p:cNvSpPr/>
          <p:nvPr/>
        </p:nvSpPr>
        <p:spPr>
          <a:xfrm>
            <a:off x="457200" y="3749040"/>
            <a:ext cx="2560320" cy="731520"/>
          </a:xfrm>
          <a:prstGeom prst="rect">
            <a:avLst/>
          </a:prstGeom>
          <a:solidFill>
            <a:srgbClr val="14F19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8"/>
          <p:cNvSpPr/>
          <p:nvPr/>
        </p:nvSpPr>
        <p:spPr>
          <a:xfrm>
            <a:off x="457200" y="37490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Program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8"/>
          <p:cNvSpPr/>
          <p:nvPr/>
        </p:nvSpPr>
        <p:spPr>
          <a:xfrm>
            <a:off x="4297680" y="1737360"/>
            <a:ext cx="214884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8"/>
          <p:cNvSpPr/>
          <p:nvPr/>
        </p:nvSpPr>
        <p:spPr>
          <a:xfrm>
            <a:off x="4297680" y="1737360"/>
            <a:ext cx="214884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8"/>
          <p:cNvSpPr/>
          <p:nvPr/>
        </p:nvSpPr>
        <p:spPr>
          <a:xfrm>
            <a:off x="4462272" y="1856232"/>
            <a:ext cx="1819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Composability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8"/>
          <p:cNvSpPr/>
          <p:nvPr/>
        </p:nvSpPr>
        <p:spPr>
          <a:xfrm>
            <a:off x="4462272" y="2240280"/>
            <a:ext cx="18196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既存プログラムを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再利用できる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8"/>
          <p:cNvSpPr/>
          <p:nvPr/>
        </p:nvSpPr>
        <p:spPr>
          <a:xfrm>
            <a:off x="6675120" y="1737360"/>
            <a:ext cx="214884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8"/>
          <p:cNvSpPr/>
          <p:nvPr/>
        </p:nvSpPr>
        <p:spPr>
          <a:xfrm>
            <a:off x="6675120" y="1737360"/>
            <a:ext cx="214884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8"/>
          <p:cNvSpPr/>
          <p:nvPr/>
        </p:nvSpPr>
        <p:spPr>
          <a:xfrm>
            <a:off x="6839712" y="1856232"/>
            <a:ext cx="1819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Modular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8"/>
          <p:cNvSpPr/>
          <p:nvPr/>
        </p:nvSpPr>
        <p:spPr>
          <a:xfrm>
            <a:off x="6839712" y="2240280"/>
            <a:ext cx="18196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機能を分割して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疎結合に設計できる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8"/>
          <p:cNvSpPr/>
          <p:nvPr/>
        </p:nvSpPr>
        <p:spPr>
          <a:xfrm>
            <a:off x="4297680" y="3154680"/>
            <a:ext cx="214884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8"/>
          <p:cNvSpPr/>
          <p:nvPr/>
        </p:nvSpPr>
        <p:spPr>
          <a:xfrm>
            <a:off x="4297680" y="3154680"/>
            <a:ext cx="21488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8"/>
          <p:cNvSpPr/>
          <p:nvPr/>
        </p:nvSpPr>
        <p:spPr>
          <a:xfrm>
            <a:off x="4462272" y="3273552"/>
            <a:ext cx="1819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CU消費大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8"/>
          <p:cNvSpPr/>
          <p:nvPr/>
        </p:nvSpPr>
        <p:spPr>
          <a:xfrm>
            <a:off x="4462272" y="3657600"/>
            <a:ext cx="18196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CPIはCUを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多く消費する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8"/>
          <p:cNvSpPr/>
          <p:nvPr/>
        </p:nvSpPr>
        <p:spPr>
          <a:xfrm>
            <a:off x="6675120" y="3154680"/>
            <a:ext cx="214884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8"/>
          <p:cNvSpPr/>
          <p:nvPr/>
        </p:nvSpPr>
        <p:spPr>
          <a:xfrm>
            <a:off x="6675120" y="3154680"/>
            <a:ext cx="214884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8"/>
          <p:cNvSpPr/>
          <p:nvPr/>
        </p:nvSpPr>
        <p:spPr>
          <a:xfrm>
            <a:off x="6839712" y="3273552"/>
            <a:ext cx="1819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Stack Depth上限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8"/>
          <p:cNvSpPr/>
          <p:nvPr/>
        </p:nvSpPr>
        <p:spPr>
          <a:xfrm>
            <a:off x="6839712" y="3657600"/>
            <a:ext cx="18196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呼び出し深さは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最大5まで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9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9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⑤ トランザクションサイズと Compute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9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Transaction Size Limit と最適化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9"/>
          <p:cNvSpPr/>
          <p:nvPr/>
        </p:nvSpPr>
        <p:spPr>
          <a:xfrm>
            <a:off x="457200" y="1234440"/>
            <a:ext cx="3840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9"/>
          <p:cNvSpPr/>
          <p:nvPr/>
        </p:nvSpPr>
        <p:spPr>
          <a:xfrm>
            <a:off x="457200" y="1234440"/>
            <a:ext cx="384048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9"/>
          <p:cNvSpPr/>
          <p:nvPr/>
        </p:nvSpPr>
        <p:spPr>
          <a:xfrm>
            <a:off x="594360" y="132588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最大 1,232 bytes の理由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9"/>
          <p:cNvSpPr/>
          <p:nvPr/>
        </p:nvSpPr>
        <p:spPr>
          <a:xfrm>
            <a:off x="594360" y="1737360"/>
            <a:ext cx="3566160" cy="77724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9"/>
          <p:cNvSpPr/>
          <p:nvPr/>
        </p:nvSpPr>
        <p:spPr>
          <a:xfrm>
            <a:off x="731520" y="182880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IPv6 MTU 1280 bytes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rPr>
              <a:t>- ヘッダー = 1232 bytes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9"/>
          <p:cNvSpPr/>
          <p:nvPr/>
        </p:nvSpPr>
        <p:spPr>
          <a:xfrm>
            <a:off x="457200" y="2834640"/>
            <a:ext cx="25603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9"/>
          <p:cNvSpPr/>
          <p:nvPr/>
        </p:nvSpPr>
        <p:spPr>
          <a:xfrm>
            <a:off x="457200" y="2834640"/>
            <a:ext cx="256032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9"/>
          <p:cNvSpPr/>
          <p:nvPr/>
        </p:nvSpPr>
        <p:spPr>
          <a:xfrm>
            <a:off x="621792" y="295351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Instruction分割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9"/>
          <p:cNvSpPr/>
          <p:nvPr/>
        </p:nvSpPr>
        <p:spPr>
          <a:xfrm>
            <a:off x="621792" y="3337560"/>
            <a:ext cx="2231136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initialize → execute → settle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処理を複数Txに分割する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9"/>
          <p:cNvSpPr/>
          <p:nvPr/>
        </p:nvSpPr>
        <p:spPr>
          <a:xfrm>
            <a:off x="3291840" y="2834640"/>
            <a:ext cx="25603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9"/>
          <p:cNvSpPr/>
          <p:nvPr/>
        </p:nvSpPr>
        <p:spPr>
          <a:xfrm>
            <a:off x="3291840" y="2834640"/>
            <a:ext cx="256032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9"/>
          <p:cNvSpPr/>
          <p:nvPr/>
        </p:nvSpPr>
        <p:spPr>
          <a:xfrm>
            <a:off x="3456432" y="295351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Batch処理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9"/>
          <p:cNvSpPr/>
          <p:nvPr/>
        </p:nvSpPr>
        <p:spPr>
          <a:xfrm>
            <a:off x="3456432" y="3337560"/>
            <a:ext cx="2231136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複数操作を1 Txにまとめる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署名回数を削減できる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9"/>
          <p:cNvSpPr/>
          <p:nvPr/>
        </p:nvSpPr>
        <p:spPr>
          <a:xfrm>
            <a:off x="6126480" y="2834640"/>
            <a:ext cx="25603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9"/>
          <p:cNvSpPr/>
          <p:nvPr/>
        </p:nvSpPr>
        <p:spPr>
          <a:xfrm>
            <a:off x="6126480" y="2834640"/>
            <a:ext cx="256032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9"/>
          <p:cNvSpPr/>
          <p:nvPr/>
        </p:nvSpPr>
        <p:spPr>
          <a:xfrm>
            <a:off x="6291072" y="295351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Address Lookup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Table (ALT)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9"/>
          <p:cNvSpPr/>
          <p:nvPr/>
        </p:nvSpPr>
        <p:spPr>
          <a:xfrm>
            <a:off x="6291072" y="3337560"/>
            <a:ext cx="2231136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32バイトのaddressを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index参照に圧縮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最大256 addresses保存可能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7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0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0"/>
          <p:cNvSpPr/>
          <p:nvPr/>
        </p:nvSpPr>
        <p:spPr>
          <a:xfrm>
            <a:off x="731520" y="1737360"/>
            <a:ext cx="1005840" cy="1005840"/>
          </a:xfrm>
          <a:prstGeom prst="ellipse">
            <a:avLst/>
          </a:prstGeom>
          <a:solidFill>
            <a:srgbClr val="9945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0"/>
          <p:cNvSpPr/>
          <p:nvPr/>
        </p:nvSpPr>
        <p:spPr>
          <a:xfrm>
            <a:off x="731520" y="17373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0"/>
          <p:cNvSpPr/>
          <p:nvPr/>
        </p:nvSpPr>
        <p:spPr>
          <a:xfrm>
            <a:off x="1920240" y="155448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UX ─ 実は一番重要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0"/>
          <p:cNvSpPr/>
          <p:nvPr/>
        </p:nvSpPr>
        <p:spPr>
          <a:xfrm>
            <a:off x="1920240" y="283464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wallet popup・Tx delay・confirmation time・Optimistic UI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0"/>
          <p:cNvSpPr/>
          <p:nvPr/>
        </p:nvSpPr>
        <p:spPr>
          <a:xfrm>
            <a:off x="457200" y="4663440"/>
            <a:ext cx="109728" cy="109728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0"/>
          <p:cNvSpPr/>
          <p:nvPr/>
        </p:nvSpPr>
        <p:spPr>
          <a:xfrm>
            <a:off x="777240" y="4663440"/>
            <a:ext cx="109728" cy="109728"/>
          </a:xfrm>
          <a:prstGeom prst="ellipse">
            <a:avLst/>
          </a:prstGeom>
          <a:solidFill>
            <a:srgbClr val="9945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0"/>
          <p:cNvSpPr/>
          <p:nvPr/>
        </p:nvSpPr>
        <p:spPr>
          <a:xfrm>
            <a:off x="1097280" y="4663440"/>
            <a:ext cx="109728" cy="109728"/>
          </a:xfrm>
          <a:prstGeom prst="ellipse">
            <a:avLst/>
          </a:prstGeom>
          <a:solidFill>
            <a:srgbClr val="9945F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0"/>
          <p:cNvSpPr/>
          <p:nvPr/>
        </p:nvSpPr>
        <p:spPr>
          <a:xfrm>
            <a:off x="1417320" y="4663440"/>
            <a:ext cx="109728" cy="109728"/>
          </a:xfrm>
          <a:prstGeom prst="ellipse">
            <a:avLst/>
          </a:prstGeom>
          <a:solidFill>
            <a:srgbClr val="9945FF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0"/>
          <p:cNvSpPr/>
          <p:nvPr/>
        </p:nvSpPr>
        <p:spPr>
          <a:xfrm>
            <a:off x="1737360" y="4663440"/>
            <a:ext cx="109728" cy="109728"/>
          </a:xfrm>
          <a:prstGeom prst="ellipse">
            <a:avLst/>
          </a:prstGeom>
          <a:solidFill>
            <a:srgbClr val="9945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3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1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⑥ UX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1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UXで起こる主な3つの問題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1"/>
          <p:cNvSpPr/>
          <p:nvPr/>
        </p:nvSpPr>
        <p:spPr>
          <a:xfrm>
            <a:off x="365760" y="123444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1"/>
          <p:cNvSpPr/>
          <p:nvPr/>
        </p:nvSpPr>
        <p:spPr>
          <a:xfrm>
            <a:off x="365760" y="1234440"/>
            <a:ext cx="265176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1"/>
          <p:cNvSpPr/>
          <p:nvPr/>
        </p:nvSpPr>
        <p:spPr>
          <a:xfrm>
            <a:off x="530352" y="1353312"/>
            <a:ext cx="23225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① Wallet Popup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1"/>
          <p:cNvSpPr/>
          <p:nvPr/>
        </p:nvSpPr>
        <p:spPr>
          <a:xfrm>
            <a:off x="530352" y="1737360"/>
            <a:ext cx="2322576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ボタンを押すと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walletの署名要求が表示される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・popupに気づかない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・モバイルで画面が切替わる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→ 案内文が必要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"Please confirm in your wallet"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1"/>
          <p:cNvSpPr/>
          <p:nvPr/>
        </p:nvSpPr>
        <p:spPr>
          <a:xfrm>
            <a:off x="3291840" y="123444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1"/>
          <p:cNvSpPr/>
          <p:nvPr/>
        </p:nvSpPr>
        <p:spPr>
          <a:xfrm>
            <a:off x="3291840" y="1234440"/>
            <a:ext cx="265176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1"/>
          <p:cNvSpPr/>
          <p:nvPr/>
        </p:nvSpPr>
        <p:spPr>
          <a:xfrm>
            <a:off x="3456432" y="1353312"/>
            <a:ext cx="23225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② Transaction Delay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1"/>
          <p:cNvSpPr/>
          <p:nvPr/>
        </p:nvSpPr>
        <p:spPr>
          <a:xfrm>
            <a:off x="3456432" y="1737360"/>
            <a:ext cx="2322576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Solanaは高速だが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数秒の遅延は発生する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原因: RPC / ネットワーク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/ ブロック生成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→ UIに状態表示が必要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"Sending transaction..."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1"/>
          <p:cNvSpPr/>
          <p:nvPr/>
        </p:nvSpPr>
        <p:spPr>
          <a:xfrm>
            <a:off x="6217920" y="123444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1"/>
          <p:cNvSpPr/>
          <p:nvPr/>
        </p:nvSpPr>
        <p:spPr>
          <a:xfrm>
            <a:off x="6217920" y="1234440"/>
            <a:ext cx="265176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1"/>
          <p:cNvSpPr/>
          <p:nvPr/>
        </p:nvSpPr>
        <p:spPr>
          <a:xfrm>
            <a:off x="6382512" y="1353312"/>
            <a:ext cx="23225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③ Confirmation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1"/>
          <p:cNvSpPr/>
          <p:nvPr/>
        </p:nvSpPr>
        <p:spPr>
          <a:xfrm>
            <a:off x="6382512" y="1737360"/>
            <a:ext cx="2322576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processed → confirmed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→ finalized の段階で確定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多くのdAppでは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confirmedで成功表示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finalizedまで待つと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UXが遅くなりすぎる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2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F1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F195"/>
                </a:solidFill>
                <a:latin typeface="Calibri"/>
                <a:ea typeface="Calibri"/>
                <a:cs typeface="Calibri"/>
                <a:sym typeface="Calibri"/>
              </a:rPr>
              <a:t>⑥ UX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2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UX改善のための対策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2"/>
          <p:cNvSpPr/>
          <p:nvPr/>
        </p:nvSpPr>
        <p:spPr>
          <a:xfrm>
            <a:off x="365760" y="1234440"/>
            <a:ext cx="26517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2"/>
          <p:cNvSpPr/>
          <p:nvPr/>
        </p:nvSpPr>
        <p:spPr>
          <a:xfrm>
            <a:off x="365760" y="1234440"/>
            <a:ext cx="2651760" cy="54864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2"/>
          <p:cNvSpPr/>
          <p:nvPr/>
        </p:nvSpPr>
        <p:spPr>
          <a:xfrm>
            <a:off x="530352" y="1353312"/>
            <a:ext cx="23225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Optimistic UI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2"/>
          <p:cNvSpPr/>
          <p:nvPr/>
        </p:nvSpPr>
        <p:spPr>
          <a:xfrm>
            <a:off x="530352" y="1737360"/>
            <a:ext cx="2322576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User action → UI先に更新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→ Tx確認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UXの体感速度が大幅改善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2"/>
          <p:cNvSpPr/>
          <p:nvPr/>
        </p:nvSpPr>
        <p:spPr>
          <a:xfrm>
            <a:off x="3291840" y="1234440"/>
            <a:ext cx="26517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2"/>
          <p:cNvSpPr/>
          <p:nvPr/>
        </p:nvSpPr>
        <p:spPr>
          <a:xfrm>
            <a:off x="3291840" y="1234440"/>
            <a:ext cx="2651760" cy="54864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2"/>
          <p:cNvSpPr/>
          <p:nvPr/>
        </p:nvSpPr>
        <p:spPr>
          <a:xfrm>
            <a:off x="3456432" y="1353312"/>
            <a:ext cx="23225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Loading Indicator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2"/>
          <p:cNvSpPr/>
          <p:nvPr/>
        </p:nvSpPr>
        <p:spPr>
          <a:xfrm>
            <a:off x="3456432" y="1737360"/>
            <a:ext cx="2322576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"Processing transaction..."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ローディング表示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Button disableで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二重送信を防止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2"/>
          <p:cNvSpPr/>
          <p:nvPr/>
        </p:nvSpPr>
        <p:spPr>
          <a:xfrm>
            <a:off x="6217920" y="1234440"/>
            <a:ext cx="26517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2"/>
          <p:cNvSpPr/>
          <p:nvPr/>
        </p:nvSpPr>
        <p:spPr>
          <a:xfrm>
            <a:off x="6217920" y="1234440"/>
            <a:ext cx="2651760" cy="5486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2"/>
          <p:cNvSpPr/>
          <p:nvPr/>
        </p:nvSpPr>
        <p:spPr>
          <a:xfrm>
            <a:off x="6382512" y="1353312"/>
            <a:ext cx="23225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Transaction Status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2"/>
          <p:cNvSpPr/>
          <p:nvPr/>
        </p:nvSpPr>
        <p:spPr>
          <a:xfrm>
            <a:off x="6382512" y="1737360"/>
            <a:ext cx="2322576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pending / confirmed / failed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をユーザーに表示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"View on Explorer"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44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4468"/>
                </a:solidFill>
                <a:latin typeface="Calibri"/>
                <a:ea typeface="Calibri"/>
                <a:cs typeface="Calibri"/>
                <a:sym typeface="Calibri"/>
              </a:rPr>
              <a:t>リンクで確認を促す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2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040"/>
                </a:solidFill>
                <a:latin typeface="Calibri"/>
                <a:ea typeface="Calibri"/>
                <a:cs typeface="Calibri"/>
                <a:sym typeface="Calibri"/>
              </a:rPr>
              <a:t>Transaction Status の表示例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2"/>
          <p:cNvSpPr/>
          <p:nvPr/>
        </p:nvSpPr>
        <p:spPr>
          <a:xfrm>
            <a:off x="457200" y="4526280"/>
            <a:ext cx="256032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2"/>
          <p:cNvSpPr/>
          <p:nvPr/>
        </p:nvSpPr>
        <p:spPr>
          <a:xfrm>
            <a:off x="457200" y="45262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2"/>
          <p:cNvSpPr/>
          <p:nvPr/>
        </p:nvSpPr>
        <p:spPr>
          <a:xfrm>
            <a:off x="3291840" y="4526280"/>
            <a:ext cx="25603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2"/>
          <p:cNvSpPr/>
          <p:nvPr/>
        </p:nvSpPr>
        <p:spPr>
          <a:xfrm>
            <a:off x="3291840" y="45262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confirmed 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2"/>
          <p:cNvSpPr/>
          <p:nvPr/>
        </p:nvSpPr>
        <p:spPr>
          <a:xfrm>
            <a:off x="6126480" y="4526280"/>
            <a:ext cx="2560320" cy="45720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2"/>
          <p:cNvSpPr/>
          <p:nvPr/>
        </p:nvSpPr>
        <p:spPr>
          <a:xfrm>
            <a:off x="6126480" y="45262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failed 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7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3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3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9945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3"/>
          <p:cNvSpPr/>
          <p:nvPr/>
        </p:nvSpPr>
        <p:spPr>
          <a:xfrm>
            <a:off x="548640" y="7315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まとめ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3"/>
          <p:cNvSpPr/>
          <p:nvPr/>
        </p:nvSpPr>
        <p:spPr>
          <a:xfrm>
            <a:off x="548640" y="1463040"/>
            <a:ext cx="3840480" cy="914400"/>
          </a:xfrm>
          <a:prstGeom prst="rect">
            <a:avLst/>
          </a:prstGeom>
          <a:solidFill>
            <a:srgbClr val="1E1B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3"/>
          <p:cNvSpPr/>
          <p:nvPr/>
        </p:nvSpPr>
        <p:spPr>
          <a:xfrm>
            <a:off x="548640" y="1463040"/>
            <a:ext cx="73152" cy="91440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3"/>
          <p:cNvSpPr/>
          <p:nvPr/>
        </p:nvSpPr>
        <p:spPr>
          <a:xfrm>
            <a:off x="777240" y="1508760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RPC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777240" y="1901952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4F8"/>
                </a:solidFill>
                <a:latin typeface="Calibri"/>
                <a:ea typeface="Calibri"/>
                <a:cs typeface="Calibri"/>
                <a:sym typeface="Calibri"/>
              </a:rPr>
              <a:t>専用RPC + Fallback設計で安定性を確保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3"/>
          <p:cNvSpPr/>
          <p:nvPr/>
        </p:nvSpPr>
        <p:spPr>
          <a:xfrm>
            <a:off x="4754880" y="1463040"/>
            <a:ext cx="3840480" cy="914400"/>
          </a:xfrm>
          <a:prstGeom prst="rect">
            <a:avLst/>
          </a:prstGeom>
          <a:solidFill>
            <a:srgbClr val="1E1B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3"/>
          <p:cNvSpPr/>
          <p:nvPr/>
        </p:nvSpPr>
        <p:spPr>
          <a:xfrm>
            <a:off x="4754880" y="1463040"/>
            <a:ext cx="73152" cy="9144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3"/>
          <p:cNvSpPr/>
          <p:nvPr/>
        </p:nvSpPr>
        <p:spPr>
          <a:xfrm>
            <a:off x="4983480" y="1508760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Tx失敗処理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3"/>
          <p:cNvSpPr/>
          <p:nvPr/>
        </p:nvSpPr>
        <p:spPr>
          <a:xfrm>
            <a:off x="4983480" y="1901952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4F8"/>
                </a:solidFill>
                <a:latin typeface="Calibri"/>
                <a:ea typeface="Calibri"/>
                <a:cs typeface="Calibri"/>
                <a:sym typeface="Calibri"/>
              </a:rPr>
              <a:t>失敗を前提にloading / retry / error / confirm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3"/>
          <p:cNvSpPr/>
          <p:nvPr/>
        </p:nvSpPr>
        <p:spPr>
          <a:xfrm>
            <a:off x="548640" y="2560320"/>
            <a:ext cx="3840480" cy="914400"/>
          </a:xfrm>
          <a:prstGeom prst="rect">
            <a:avLst/>
          </a:prstGeom>
          <a:solidFill>
            <a:srgbClr val="1E1B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3"/>
          <p:cNvSpPr/>
          <p:nvPr/>
        </p:nvSpPr>
        <p:spPr>
          <a:xfrm>
            <a:off x="548640" y="2560320"/>
            <a:ext cx="73152" cy="914400"/>
          </a:xfrm>
          <a:prstGeom prst="rect">
            <a:avLst/>
          </a:prstGeom>
          <a:solidFill>
            <a:srgbClr val="03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3"/>
          <p:cNvSpPr/>
          <p:nvPr/>
        </p:nvSpPr>
        <p:spPr>
          <a:xfrm>
            <a:off x="777240" y="2606040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セキュリティ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3"/>
          <p:cNvSpPr/>
          <p:nvPr/>
        </p:nvSpPr>
        <p:spPr>
          <a:xfrm>
            <a:off x="777240" y="2999232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4F8"/>
                </a:solidFill>
                <a:latin typeface="Calibri"/>
                <a:ea typeface="Calibri"/>
                <a:cs typeface="Calibri"/>
                <a:sym typeface="Calibri"/>
              </a:rPr>
              <a:t>signer + owner + PDAの3点セットで防御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3"/>
          <p:cNvSpPr/>
          <p:nvPr/>
        </p:nvSpPr>
        <p:spPr>
          <a:xfrm>
            <a:off x="4754880" y="2560320"/>
            <a:ext cx="3840480" cy="914400"/>
          </a:xfrm>
          <a:prstGeom prst="rect">
            <a:avLst/>
          </a:prstGeom>
          <a:solidFill>
            <a:srgbClr val="1E1B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3"/>
          <p:cNvSpPr/>
          <p:nvPr/>
        </p:nvSpPr>
        <p:spPr>
          <a:xfrm>
            <a:off x="4754880" y="2560320"/>
            <a:ext cx="73152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3"/>
          <p:cNvSpPr/>
          <p:nvPr/>
        </p:nvSpPr>
        <p:spPr>
          <a:xfrm>
            <a:off x="4983480" y="2606040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 状態管理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3"/>
          <p:cNvSpPr/>
          <p:nvPr/>
        </p:nvSpPr>
        <p:spPr>
          <a:xfrm>
            <a:off x="4983480" y="2999232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4F8"/>
                </a:solidFill>
                <a:latin typeface="Calibri"/>
                <a:ea typeface="Calibri"/>
                <a:cs typeface="Calibri"/>
                <a:sym typeface="Calibri"/>
              </a:rPr>
              <a:t>state design = account design を意識する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3"/>
          <p:cNvSpPr/>
          <p:nvPr/>
        </p:nvSpPr>
        <p:spPr>
          <a:xfrm>
            <a:off x="548640" y="3657600"/>
            <a:ext cx="3840480" cy="914400"/>
          </a:xfrm>
          <a:prstGeom prst="rect">
            <a:avLst/>
          </a:prstGeom>
          <a:solidFill>
            <a:srgbClr val="1E1B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3"/>
          <p:cNvSpPr/>
          <p:nvPr/>
        </p:nvSpPr>
        <p:spPr>
          <a:xfrm>
            <a:off x="548640" y="3657600"/>
            <a:ext cx="73152" cy="91440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3"/>
          <p:cNvSpPr/>
          <p:nvPr/>
        </p:nvSpPr>
        <p:spPr>
          <a:xfrm>
            <a:off x="777240" y="3703320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 Compute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3"/>
          <p:cNvSpPr/>
          <p:nvPr/>
        </p:nvSpPr>
        <p:spPr>
          <a:xfrm>
            <a:off x="777240" y="4096512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4F8"/>
                </a:solidFill>
                <a:latin typeface="Calibri"/>
                <a:ea typeface="Calibri"/>
                <a:cs typeface="Calibri"/>
                <a:sym typeface="Calibri"/>
              </a:rPr>
              <a:t>CU・サイズ制限を把握し最適化する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3"/>
          <p:cNvSpPr/>
          <p:nvPr/>
        </p:nvSpPr>
        <p:spPr>
          <a:xfrm>
            <a:off x="4754880" y="3657600"/>
            <a:ext cx="3840480" cy="914400"/>
          </a:xfrm>
          <a:prstGeom prst="rect">
            <a:avLst/>
          </a:prstGeom>
          <a:solidFill>
            <a:srgbClr val="1E1B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3"/>
          <p:cNvSpPr/>
          <p:nvPr/>
        </p:nvSpPr>
        <p:spPr>
          <a:xfrm>
            <a:off x="4754880" y="3657600"/>
            <a:ext cx="73152" cy="9144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3"/>
          <p:cNvSpPr/>
          <p:nvPr/>
        </p:nvSpPr>
        <p:spPr>
          <a:xfrm>
            <a:off x="4983480" y="3703320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⑥ UX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3"/>
          <p:cNvSpPr/>
          <p:nvPr/>
        </p:nvSpPr>
        <p:spPr>
          <a:xfrm>
            <a:off x="4983480" y="4096512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4F8"/>
                </a:solidFill>
                <a:latin typeface="Calibri"/>
                <a:ea typeface="Calibri"/>
                <a:cs typeface="Calibri"/>
                <a:sym typeface="Calibri"/>
              </a:rPr>
              <a:t>Optimistic UI + loading + status表示で快適に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2026-03-21T04:50:29Z</dcterms:created>
  <dc:creator>PptxGenJS</dc:creator>
</cp:coreProperties>
</file>